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37" d="100"/>
          <a:sy n="37" d="100"/>
        </p:scale>
        <p:origin x="56" y="6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ACC23-D12F-6116-7134-76E12C1309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D0AF11-0B40-5D8E-5F68-A6819C22B8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AF1DDC-B603-7430-58C4-2647209BF999}"/>
              </a:ext>
            </a:extLst>
          </p:cNvPr>
          <p:cNvSpPr>
            <a:spLocks noGrp="1"/>
          </p:cNvSpPr>
          <p:nvPr>
            <p:ph type="dt" sz="half" idx="10"/>
          </p:nvPr>
        </p:nvSpPr>
        <p:spPr/>
        <p:txBody>
          <a:bodyPr/>
          <a:lstStyle/>
          <a:p>
            <a:fld id="{015F9BD6-E6DF-4DFF-A7CB-980F4AD0DBD1}" type="datetimeFigureOut">
              <a:rPr lang="en-US" smtClean="0"/>
              <a:t>8/17/2023</a:t>
            </a:fld>
            <a:endParaRPr lang="en-US"/>
          </a:p>
        </p:txBody>
      </p:sp>
      <p:sp>
        <p:nvSpPr>
          <p:cNvPr id="5" name="Footer Placeholder 4">
            <a:extLst>
              <a:ext uri="{FF2B5EF4-FFF2-40B4-BE49-F238E27FC236}">
                <a16:creationId xmlns:a16="http://schemas.microsoft.com/office/drawing/2014/main" id="{4A7E7CC9-7050-B266-8236-88E41E5AC9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C8A166-49DB-A9FD-4329-7CE743428074}"/>
              </a:ext>
            </a:extLst>
          </p:cNvPr>
          <p:cNvSpPr>
            <a:spLocks noGrp="1"/>
          </p:cNvSpPr>
          <p:nvPr>
            <p:ph type="sldNum" sz="quarter" idx="12"/>
          </p:nvPr>
        </p:nvSpPr>
        <p:spPr/>
        <p:txBody>
          <a:bodyPr/>
          <a:lstStyle/>
          <a:p>
            <a:fld id="{E243548B-EADD-4DC2-89FE-297D4A7C71B1}" type="slidenum">
              <a:rPr lang="en-US" smtClean="0"/>
              <a:t>‹#›</a:t>
            </a:fld>
            <a:endParaRPr lang="en-US"/>
          </a:p>
        </p:txBody>
      </p:sp>
    </p:spTree>
    <p:extLst>
      <p:ext uri="{BB962C8B-B14F-4D97-AF65-F5344CB8AC3E}">
        <p14:creationId xmlns:p14="http://schemas.microsoft.com/office/powerpoint/2010/main" val="3277137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E76A9-0E23-5813-EDA4-4BC6074D7C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1039E5-72DD-7179-1E16-222CDFBD99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344E22-5793-E750-E460-1F3D5AD7B598}"/>
              </a:ext>
            </a:extLst>
          </p:cNvPr>
          <p:cNvSpPr>
            <a:spLocks noGrp="1"/>
          </p:cNvSpPr>
          <p:nvPr>
            <p:ph type="dt" sz="half" idx="10"/>
          </p:nvPr>
        </p:nvSpPr>
        <p:spPr/>
        <p:txBody>
          <a:bodyPr/>
          <a:lstStyle/>
          <a:p>
            <a:fld id="{015F9BD6-E6DF-4DFF-A7CB-980F4AD0DBD1}" type="datetimeFigureOut">
              <a:rPr lang="en-US" smtClean="0"/>
              <a:t>8/17/2023</a:t>
            </a:fld>
            <a:endParaRPr lang="en-US"/>
          </a:p>
        </p:txBody>
      </p:sp>
      <p:sp>
        <p:nvSpPr>
          <p:cNvPr id="5" name="Footer Placeholder 4">
            <a:extLst>
              <a:ext uri="{FF2B5EF4-FFF2-40B4-BE49-F238E27FC236}">
                <a16:creationId xmlns:a16="http://schemas.microsoft.com/office/drawing/2014/main" id="{287476EE-0484-8D12-0C02-82EAFF1A6C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D0E356-7CD2-689F-D156-9E7CA7708E5A}"/>
              </a:ext>
            </a:extLst>
          </p:cNvPr>
          <p:cNvSpPr>
            <a:spLocks noGrp="1"/>
          </p:cNvSpPr>
          <p:nvPr>
            <p:ph type="sldNum" sz="quarter" idx="12"/>
          </p:nvPr>
        </p:nvSpPr>
        <p:spPr/>
        <p:txBody>
          <a:bodyPr/>
          <a:lstStyle/>
          <a:p>
            <a:fld id="{E243548B-EADD-4DC2-89FE-297D4A7C71B1}" type="slidenum">
              <a:rPr lang="en-US" smtClean="0"/>
              <a:t>‹#›</a:t>
            </a:fld>
            <a:endParaRPr lang="en-US"/>
          </a:p>
        </p:txBody>
      </p:sp>
    </p:spTree>
    <p:extLst>
      <p:ext uri="{BB962C8B-B14F-4D97-AF65-F5344CB8AC3E}">
        <p14:creationId xmlns:p14="http://schemas.microsoft.com/office/powerpoint/2010/main" val="2082571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8816F-D196-BDBA-2B62-5591549E07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E5E1EF-3D05-0819-13AE-412C8C52F21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630549-6ED5-215C-0574-B97661063BD6}"/>
              </a:ext>
            </a:extLst>
          </p:cNvPr>
          <p:cNvSpPr>
            <a:spLocks noGrp="1"/>
          </p:cNvSpPr>
          <p:nvPr>
            <p:ph type="dt" sz="half" idx="10"/>
          </p:nvPr>
        </p:nvSpPr>
        <p:spPr/>
        <p:txBody>
          <a:bodyPr/>
          <a:lstStyle/>
          <a:p>
            <a:fld id="{015F9BD6-E6DF-4DFF-A7CB-980F4AD0DBD1}" type="datetimeFigureOut">
              <a:rPr lang="en-US" smtClean="0"/>
              <a:t>8/17/2023</a:t>
            </a:fld>
            <a:endParaRPr lang="en-US"/>
          </a:p>
        </p:txBody>
      </p:sp>
      <p:sp>
        <p:nvSpPr>
          <p:cNvPr id="5" name="Footer Placeholder 4">
            <a:extLst>
              <a:ext uri="{FF2B5EF4-FFF2-40B4-BE49-F238E27FC236}">
                <a16:creationId xmlns:a16="http://schemas.microsoft.com/office/drawing/2014/main" id="{4B26FE2B-EB99-624F-3CEE-95BB11B821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A80E74-A847-CDF0-CA5A-5A0C95AB5459}"/>
              </a:ext>
            </a:extLst>
          </p:cNvPr>
          <p:cNvSpPr>
            <a:spLocks noGrp="1"/>
          </p:cNvSpPr>
          <p:nvPr>
            <p:ph type="sldNum" sz="quarter" idx="12"/>
          </p:nvPr>
        </p:nvSpPr>
        <p:spPr/>
        <p:txBody>
          <a:bodyPr/>
          <a:lstStyle/>
          <a:p>
            <a:fld id="{E243548B-EADD-4DC2-89FE-297D4A7C71B1}" type="slidenum">
              <a:rPr lang="en-US" smtClean="0"/>
              <a:t>‹#›</a:t>
            </a:fld>
            <a:endParaRPr lang="en-US"/>
          </a:p>
        </p:txBody>
      </p:sp>
    </p:spTree>
    <p:extLst>
      <p:ext uri="{BB962C8B-B14F-4D97-AF65-F5344CB8AC3E}">
        <p14:creationId xmlns:p14="http://schemas.microsoft.com/office/powerpoint/2010/main" val="3494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1554D-6EB5-DE79-A9DE-0E77EF6376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C299DB-C75A-5837-7A75-BD70B807CF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1665A2-FA23-0133-8C9C-7DB5C7BD0B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96A3C0-05D4-ED2F-6075-2D83E927977B}"/>
              </a:ext>
            </a:extLst>
          </p:cNvPr>
          <p:cNvSpPr>
            <a:spLocks noGrp="1"/>
          </p:cNvSpPr>
          <p:nvPr>
            <p:ph type="dt" sz="half" idx="10"/>
          </p:nvPr>
        </p:nvSpPr>
        <p:spPr/>
        <p:txBody>
          <a:bodyPr/>
          <a:lstStyle/>
          <a:p>
            <a:fld id="{015F9BD6-E6DF-4DFF-A7CB-980F4AD0DBD1}" type="datetimeFigureOut">
              <a:rPr lang="en-US" smtClean="0"/>
              <a:t>8/17/2023</a:t>
            </a:fld>
            <a:endParaRPr lang="en-US"/>
          </a:p>
        </p:txBody>
      </p:sp>
      <p:sp>
        <p:nvSpPr>
          <p:cNvPr id="6" name="Footer Placeholder 5">
            <a:extLst>
              <a:ext uri="{FF2B5EF4-FFF2-40B4-BE49-F238E27FC236}">
                <a16:creationId xmlns:a16="http://schemas.microsoft.com/office/drawing/2014/main" id="{0E23CD95-3639-8EA1-38B7-C558A103DA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5FC09A-A84C-1A1C-9A91-12FDA06B468B}"/>
              </a:ext>
            </a:extLst>
          </p:cNvPr>
          <p:cNvSpPr>
            <a:spLocks noGrp="1"/>
          </p:cNvSpPr>
          <p:nvPr>
            <p:ph type="sldNum" sz="quarter" idx="12"/>
          </p:nvPr>
        </p:nvSpPr>
        <p:spPr/>
        <p:txBody>
          <a:bodyPr/>
          <a:lstStyle/>
          <a:p>
            <a:fld id="{E243548B-EADD-4DC2-89FE-297D4A7C71B1}" type="slidenum">
              <a:rPr lang="en-US" smtClean="0"/>
              <a:t>‹#›</a:t>
            </a:fld>
            <a:endParaRPr lang="en-US"/>
          </a:p>
        </p:txBody>
      </p:sp>
    </p:spTree>
    <p:extLst>
      <p:ext uri="{BB962C8B-B14F-4D97-AF65-F5344CB8AC3E}">
        <p14:creationId xmlns:p14="http://schemas.microsoft.com/office/powerpoint/2010/main" val="4143378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53F5D-96DF-B70A-7CD5-21570E6485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F8B89F-F685-F616-3CFF-AA1B09835A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A5B09B-2EF4-885E-80FB-5D8442B863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568659-3ACA-A6D3-CDC0-09D7F6D601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6A48A8-B848-355D-7917-02E5E1FD50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5EF640-36BD-DAAE-C469-B33D4D4B90FF}"/>
              </a:ext>
            </a:extLst>
          </p:cNvPr>
          <p:cNvSpPr>
            <a:spLocks noGrp="1"/>
          </p:cNvSpPr>
          <p:nvPr>
            <p:ph type="dt" sz="half" idx="10"/>
          </p:nvPr>
        </p:nvSpPr>
        <p:spPr/>
        <p:txBody>
          <a:bodyPr/>
          <a:lstStyle/>
          <a:p>
            <a:fld id="{015F9BD6-E6DF-4DFF-A7CB-980F4AD0DBD1}" type="datetimeFigureOut">
              <a:rPr lang="en-US" smtClean="0"/>
              <a:t>8/17/2023</a:t>
            </a:fld>
            <a:endParaRPr lang="en-US"/>
          </a:p>
        </p:txBody>
      </p:sp>
      <p:sp>
        <p:nvSpPr>
          <p:cNvPr id="8" name="Footer Placeholder 7">
            <a:extLst>
              <a:ext uri="{FF2B5EF4-FFF2-40B4-BE49-F238E27FC236}">
                <a16:creationId xmlns:a16="http://schemas.microsoft.com/office/drawing/2014/main" id="{F2DEAE3F-D92E-6568-FA72-2B89F22687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AD31B2-4CAE-5C7D-1D46-387C05FAB1DF}"/>
              </a:ext>
            </a:extLst>
          </p:cNvPr>
          <p:cNvSpPr>
            <a:spLocks noGrp="1"/>
          </p:cNvSpPr>
          <p:nvPr>
            <p:ph type="sldNum" sz="quarter" idx="12"/>
          </p:nvPr>
        </p:nvSpPr>
        <p:spPr/>
        <p:txBody>
          <a:bodyPr/>
          <a:lstStyle/>
          <a:p>
            <a:fld id="{E243548B-EADD-4DC2-89FE-297D4A7C71B1}" type="slidenum">
              <a:rPr lang="en-US" smtClean="0"/>
              <a:t>‹#›</a:t>
            </a:fld>
            <a:endParaRPr lang="en-US"/>
          </a:p>
        </p:txBody>
      </p:sp>
    </p:spTree>
    <p:extLst>
      <p:ext uri="{BB962C8B-B14F-4D97-AF65-F5344CB8AC3E}">
        <p14:creationId xmlns:p14="http://schemas.microsoft.com/office/powerpoint/2010/main" val="4089050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81A55-A1F7-34C0-C550-F8A0FD935F9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CD1C9E-5FAD-0362-A944-DBBF71B0C536}"/>
              </a:ext>
            </a:extLst>
          </p:cNvPr>
          <p:cNvSpPr>
            <a:spLocks noGrp="1"/>
          </p:cNvSpPr>
          <p:nvPr>
            <p:ph type="dt" sz="half" idx="10"/>
          </p:nvPr>
        </p:nvSpPr>
        <p:spPr/>
        <p:txBody>
          <a:bodyPr/>
          <a:lstStyle/>
          <a:p>
            <a:fld id="{015F9BD6-E6DF-4DFF-A7CB-980F4AD0DBD1}" type="datetimeFigureOut">
              <a:rPr lang="en-US" smtClean="0"/>
              <a:t>8/17/2023</a:t>
            </a:fld>
            <a:endParaRPr lang="en-US"/>
          </a:p>
        </p:txBody>
      </p:sp>
      <p:sp>
        <p:nvSpPr>
          <p:cNvPr id="4" name="Footer Placeholder 3">
            <a:extLst>
              <a:ext uri="{FF2B5EF4-FFF2-40B4-BE49-F238E27FC236}">
                <a16:creationId xmlns:a16="http://schemas.microsoft.com/office/drawing/2014/main" id="{89243E2B-1C38-6666-6186-84F199C5C3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C2E06C-D930-AC96-6BB7-D5C60062C77A}"/>
              </a:ext>
            </a:extLst>
          </p:cNvPr>
          <p:cNvSpPr>
            <a:spLocks noGrp="1"/>
          </p:cNvSpPr>
          <p:nvPr>
            <p:ph type="sldNum" sz="quarter" idx="12"/>
          </p:nvPr>
        </p:nvSpPr>
        <p:spPr/>
        <p:txBody>
          <a:bodyPr/>
          <a:lstStyle/>
          <a:p>
            <a:fld id="{E243548B-EADD-4DC2-89FE-297D4A7C71B1}" type="slidenum">
              <a:rPr lang="en-US" smtClean="0"/>
              <a:t>‹#›</a:t>
            </a:fld>
            <a:endParaRPr lang="en-US"/>
          </a:p>
        </p:txBody>
      </p:sp>
    </p:spTree>
    <p:extLst>
      <p:ext uri="{BB962C8B-B14F-4D97-AF65-F5344CB8AC3E}">
        <p14:creationId xmlns:p14="http://schemas.microsoft.com/office/powerpoint/2010/main" val="70405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915C50-61C7-4DD2-F843-E6D7260DAF76}"/>
              </a:ext>
            </a:extLst>
          </p:cNvPr>
          <p:cNvSpPr>
            <a:spLocks noGrp="1"/>
          </p:cNvSpPr>
          <p:nvPr>
            <p:ph type="dt" sz="half" idx="10"/>
          </p:nvPr>
        </p:nvSpPr>
        <p:spPr/>
        <p:txBody>
          <a:bodyPr/>
          <a:lstStyle/>
          <a:p>
            <a:fld id="{015F9BD6-E6DF-4DFF-A7CB-980F4AD0DBD1}" type="datetimeFigureOut">
              <a:rPr lang="en-US" smtClean="0"/>
              <a:t>8/17/2023</a:t>
            </a:fld>
            <a:endParaRPr lang="en-US"/>
          </a:p>
        </p:txBody>
      </p:sp>
      <p:sp>
        <p:nvSpPr>
          <p:cNvPr id="3" name="Footer Placeholder 2">
            <a:extLst>
              <a:ext uri="{FF2B5EF4-FFF2-40B4-BE49-F238E27FC236}">
                <a16:creationId xmlns:a16="http://schemas.microsoft.com/office/drawing/2014/main" id="{29949BC0-CD33-8CE9-5145-2DEB9C2CBC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064574F-34A5-AAC4-F2E2-A978C4240A7A}"/>
              </a:ext>
            </a:extLst>
          </p:cNvPr>
          <p:cNvSpPr>
            <a:spLocks noGrp="1"/>
          </p:cNvSpPr>
          <p:nvPr>
            <p:ph type="sldNum" sz="quarter" idx="12"/>
          </p:nvPr>
        </p:nvSpPr>
        <p:spPr/>
        <p:txBody>
          <a:bodyPr/>
          <a:lstStyle/>
          <a:p>
            <a:fld id="{E243548B-EADD-4DC2-89FE-297D4A7C71B1}" type="slidenum">
              <a:rPr lang="en-US" smtClean="0"/>
              <a:t>‹#›</a:t>
            </a:fld>
            <a:endParaRPr lang="en-US"/>
          </a:p>
        </p:txBody>
      </p:sp>
    </p:spTree>
    <p:extLst>
      <p:ext uri="{BB962C8B-B14F-4D97-AF65-F5344CB8AC3E}">
        <p14:creationId xmlns:p14="http://schemas.microsoft.com/office/powerpoint/2010/main" val="56400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839A6-F145-4CB4-00BF-03A655DE57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1A3F7D-45D7-3876-168C-CA1E197625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89374A6-54B5-A62C-DD3F-E7BA9DEFCC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72EAD1-82B3-8A5C-26D8-058EFC93513D}"/>
              </a:ext>
            </a:extLst>
          </p:cNvPr>
          <p:cNvSpPr>
            <a:spLocks noGrp="1"/>
          </p:cNvSpPr>
          <p:nvPr>
            <p:ph type="dt" sz="half" idx="10"/>
          </p:nvPr>
        </p:nvSpPr>
        <p:spPr/>
        <p:txBody>
          <a:bodyPr/>
          <a:lstStyle/>
          <a:p>
            <a:fld id="{015F9BD6-E6DF-4DFF-A7CB-980F4AD0DBD1}" type="datetimeFigureOut">
              <a:rPr lang="en-US" smtClean="0"/>
              <a:t>8/17/2023</a:t>
            </a:fld>
            <a:endParaRPr lang="en-US"/>
          </a:p>
        </p:txBody>
      </p:sp>
      <p:sp>
        <p:nvSpPr>
          <p:cNvPr id="6" name="Footer Placeholder 5">
            <a:extLst>
              <a:ext uri="{FF2B5EF4-FFF2-40B4-BE49-F238E27FC236}">
                <a16:creationId xmlns:a16="http://schemas.microsoft.com/office/drawing/2014/main" id="{ACE8AC1B-6940-9270-04B6-96AB035C5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E38F44-7E77-51A7-50C4-670462F7461D}"/>
              </a:ext>
            </a:extLst>
          </p:cNvPr>
          <p:cNvSpPr>
            <a:spLocks noGrp="1"/>
          </p:cNvSpPr>
          <p:nvPr>
            <p:ph type="sldNum" sz="quarter" idx="12"/>
          </p:nvPr>
        </p:nvSpPr>
        <p:spPr/>
        <p:txBody>
          <a:bodyPr/>
          <a:lstStyle/>
          <a:p>
            <a:fld id="{E243548B-EADD-4DC2-89FE-297D4A7C71B1}" type="slidenum">
              <a:rPr lang="en-US" smtClean="0"/>
              <a:t>‹#›</a:t>
            </a:fld>
            <a:endParaRPr lang="en-US"/>
          </a:p>
        </p:txBody>
      </p:sp>
    </p:spTree>
    <p:extLst>
      <p:ext uri="{BB962C8B-B14F-4D97-AF65-F5344CB8AC3E}">
        <p14:creationId xmlns:p14="http://schemas.microsoft.com/office/powerpoint/2010/main" val="3682848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50A44-2CFE-56F1-1F8C-01C17F08FD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133D923-D4EF-29F6-9971-8BEE009C9E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BC619D1-C31F-9E70-74D6-C4CE541FED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87A9BC-69C1-717E-9B8E-9D7314827C2E}"/>
              </a:ext>
            </a:extLst>
          </p:cNvPr>
          <p:cNvSpPr>
            <a:spLocks noGrp="1"/>
          </p:cNvSpPr>
          <p:nvPr>
            <p:ph type="dt" sz="half" idx="10"/>
          </p:nvPr>
        </p:nvSpPr>
        <p:spPr/>
        <p:txBody>
          <a:bodyPr/>
          <a:lstStyle/>
          <a:p>
            <a:fld id="{015F9BD6-E6DF-4DFF-A7CB-980F4AD0DBD1}" type="datetimeFigureOut">
              <a:rPr lang="en-US" smtClean="0"/>
              <a:t>8/17/2023</a:t>
            </a:fld>
            <a:endParaRPr lang="en-US"/>
          </a:p>
        </p:txBody>
      </p:sp>
      <p:sp>
        <p:nvSpPr>
          <p:cNvPr id="6" name="Footer Placeholder 5">
            <a:extLst>
              <a:ext uri="{FF2B5EF4-FFF2-40B4-BE49-F238E27FC236}">
                <a16:creationId xmlns:a16="http://schemas.microsoft.com/office/drawing/2014/main" id="{48CF2726-9DF8-111C-F076-F2D3467DCE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5C2EE8-4725-DE2D-2AEA-31636A6998CB}"/>
              </a:ext>
            </a:extLst>
          </p:cNvPr>
          <p:cNvSpPr>
            <a:spLocks noGrp="1"/>
          </p:cNvSpPr>
          <p:nvPr>
            <p:ph type="sldNum" sz="quarter" idx="12"/>
          </p:nvPr>
        </p:nvSpPr>
        <p:spPr/>
        <p:txBody>
          <a:bodyPr/>
          <a:lstStyle/>
          <a:p>
            <a:fld id="{E243548B-EADD-4DC2-89FE-297D4A7C71B1}" type="slidenum">
              <a:rPr lang="en-US" smtClean="0"/>
              <a:t>‹#›</a:t>
            </a:fld>
            <a:endParaRPr lang="en-US"/>
          </a:p>
        </p:txBody>
      </p:sp>
    </p:spTree>
    <p:extLst>
      <p:ext uri="{BB962C8B-B14F-4D97-AF65-F5344CB8AC3E}">
        <p14:creationId xmlns:p14="http://schemas.microsoft.com/office/powerpoint/2010/main" val="3472152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F028C-F472-675B-D7A3-8F66EE4206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1A51F1-D348-8A4B-CC88-B8596562FA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9A3F05-D61F-42B5-E753-BD10F9253D2C}"/>
              </a:ext>
            </a:extLst>
          </p:cNvPr>
          <p:cNvSpPr>
            <a:spLocks noGrp="1"/>
          </p:cNvSpPr>
          <p:nvPr>
            <p:ph type="dt" sz="half" idx="10"/>
          </p:nvPr>
        </p:nvSpPr>
        <p:spPr/>
        <p:txBody>
          <a:bodyPr/>
          <a:lstStyle/>
          <a:p>
            <a:fld id="{015F9BD6-E6DF-4DFF-A7CB-980F4AD0DBD1}" type="datetimeFigureOut">
              <a:rPr lang="en-US" smtClean="0"/>
              <a:t>8/17/2023</a:t>
            </a:fld>
            <a:endParaRPr lang="en-US"/>
          </a:p>
        </p:txBody>
      </p:sp>
      <p:sp>
        <p:nvSpPr>
          <p:cNvPr id="5" name="Footer Placeholder 4">
            <a:extLst>
              <a:ext uri="{FF2B5EF4-FFF2-40B4-BE49-F238E27FC236}">
                <a16:creationId xmlns:a16="http://schemas.microsoft.com/office/drawing/2014/main" id="{6396BC6F-CB79-9B02-297E-D6A6A4F9C6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CE342A-54BC-E7CC-7726-0DC8AF0715F9}"/>
              </a:ext>
            </a:extLst>
          </p:cNvPr>
          <p:cNvSpPr>
            <a:spLocks noGrp="1"/>
          </p:cNvSpPr>
          <p:nvPr>
            <p:ph type="sldNum" sz="quarter" idx="12"/>
          </p:nvPr>
        </p:nvSpPr>
        <p:spPr/>
        <p:txBody>
          <a:bodyPr/>
          <a:lstStyle/>
          <a:p>
            <a:fld id="{E243548B-EADD-4DC2-89FE-297D4A7C71B1}" type="slidenum">
              <a:rPr lang="en-US" smtClean="0"/>
              <a:t>‹#›</a:t>
            </a:fld>
            <a:endParaRPr lang="en-US"/>
          </a:p>
        </p:txBody>
      </p:sp>
    </p:spTree>
    <p:extLst>
      <p:ext uri="{BB962C8B-B14F-4D97-AF65-F5344CB8AC3E}">
        <p14:creationId xmlns:p14="http://schemas.microsoft.com/office/powerpoint/2010/main" val="3455851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527500-ADFC-67A5-5D76-6EE3CBEC80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EBF3CF-2088-0153-07B5-3B292D67A7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1A1AAE-F48A-2556-EC81-245644FD2912}"/>
              </a:ext>
            </a:extLst>
          </p:cNvPr>
          <p:cNvSpPr>
            <a:spLocks noGrp="1"/>
          </p:cNvSpPr>
          <p:nvPr>
            <p:ph type="dt" sz="half" idx="10"/>
          </p:nvPr>
        </p:nvSpPr>
        <p:spPr/>
        <p:txBody>
          <a:bodyPr/>
          <a:lstStyle/>
          <a:p>
            <a:fld id="{015F9BD6-E6DF-4DFF-A7CB-980F4AD0DBD1}" type="datetimeFigureOut">
              <a:rPr lang="en-US" smtClean="0"/>
              <a:t>8/17/2023</a:t>
            </a:fld>
            <a:endParaRPr lang="en-US"/>
          </a:p>
        </p:txBody>
      </p:sp>
      <p:sp>
        <p:nvSpPr>
          <p:cNvPr id="5" name="Footer Placeholder 4">
            <a:extLst>
              <a:ext uri="{FF2B5EF4-FFF2-40B4-BE49-F238E27FC236}">
                <a16:creationId xmlns:a16="http://schemas.microsoft.com/office/drawing/2014/main" id="{86DEA495-7D68-6FDF-6D1C-647C495869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C38A34-373A-850B-D251-037A252FB523}"/>
              </a:ext>
            </a:extLst>
          </p:cNvPr>
          <p:cNvSpPr>
            <a:spLocks noGrp="1"/>
          </p:cNvSpPr>
          <p:nvPr>
            <p:ph type="sldNum" sz="quarter" idx="12"/>
          </p:nvPr>
        </p:nvSpPr>
        <p:spPr/>
        <p:txBody>
          <a:bodyPr/>
          <a:lstStyle/>
          <a:p>
            <a:fld id="{E243548B-EADD-4DC2-89FE-297D4A7C71B1}" type="slidenum">
              <a:rPr lang="en-US" smtClean="0"/>
              <a:t>‹#›</a:t>
            </a:fld>
            <a:endParaRPr lang="en-US"/>
          </a:p>
        </p:txBody>
      </p:sp>
    </p:spTree>
    <p:extLst>
      <p:ext uri="{BB962C8B-B14F-4D97-AF65-F5344CB8AC3E}">
        <p14:creationId xmlns:p14="http://schemas.microsoft.com/office/powerpoint/2010/main" val="1751956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3E65A8-B9CC-480A-2D82-D0195F1C93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6ABD1A-CA14-0653-CE16-EB515AAA87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D6C341-B1EE-905B-80E8-6B6A279720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5F9BD6-E6DF-4DFF-A7CB-980F4AD0DBD1}" type="datetimeFigureOut">
              <a:rPr lang="en-US" smtClean="0"/>
              <a:t>8/17/2023</a:t>
            </a:fld>
            <a:endParaRPr lang="en-US"/>
          </a:p>
        </p:txBody>
      </p:sp>
      <p:sp>
        <p:nvSpPr>
          <p:cNvPr id="5" name="Footer Placeholder 4">
            <a:extLst>
              <a:ext uri="{FF2B5EF4-FFF2-40B4-BE49-F238E27FC236}">
                <a16:creationId xmlns:a16="http://schemas.microsoft.com/office/drawing/2014/main" id="{FDFFB7F7-796D-B52E-2CEE-354C64FB90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930D20A-5CB6-8329-34A2-72D872A34A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43548B-EADD-4DC2-89FE-297D4A7C71B1}" type="slidenum">
              <a:rPr lang="en-US" smtClean="0"/>
              <a:t>‹#›</a:t>
            </a:fld>
            <a:endParaRPr lang="en-US"/>
          </a:p>
        </p:txBody>
      </p:sp>
    </p:spTree>
    <p:extLst>
      <p:ext uri="{BB962C8B-B14F-4D97-AF65-F5344CB8AC3E}">
        <p14:creationId xmlns:p14="http://schemas.microsoft.com/office/powerpoint/2010/main" val="3062943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F0FE-60FB-1E06-1AF1-01BAEFC29459}"/>
              </a:ext>
            </a:extLst>
          </p:cNvPr>
          <p:cNvSpPr>
            <a:spLocks noGrp="1"/>
          </p:cNvSpPr>
          <p:nvPr>
            <p:ph type="ctrTitle"/>
          </p:nvPr>
        </p:nvSpPr>
        <p:spPr/>
        <p:txBody>
          <a:bodyPr/>
          <a:lstStyle/>
          <a:p>
            <a:r>
              <a:rPr lang="en-US" dirty="0"/>
              <a:t>Inverting amplifier</a:t>
            </a:r>
          </a:p>
        </p:txBody>
      </p:sp>
      <p:sp>
        <p:nvSpPr>
          <p:cNvPr id="3" name="Subtitle 2">
            <a:extLst>
              <a:ext uri="{FF2B5EF4-FFF2-40B4-BE49-F238E27FC236}">
                <a16:creationId xmlns:a16="http://schemas.microsoft.com/office/drawing/2014/main" id="{2231EF14-E981-0CEC-BFA6-2AF65A45819D}"/>
              </a:ext>
            </a:extLst>
          </p:cNvPr>
          <p:cNvSpPr>
            <a:spLocks noGrp="1"/>
          </p:cNvSpPr>
          <p:nvPr>
            <p:ph type="subTitle" idx="1"/>
          </p:nvPr>
        </p:nvSpPr>
        <p:spPr/>
        <p:txBody>
          <a:bodyPr/>
          <a:lstStyle/>
          <a:p>
            <a:r>
              <a:rPr lang="en-US" dirty="0"/>
              <a:t>Isaiah Marin</a:t>
            </a:r>
          </a:p>
        </p:txBody>
      </p:sp>
    </p:spTree>
    <p:extLst>
      <p:ext uri="{BB962C8B-B14F-4D97-AF65-F5344CB8AC3E}">
        <p14:creationId xmlns:p14="http://schemas.microsoft.com/office/powerpoint/2010/main" val="4017039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4" name="Rectangle 1030">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Freeform: Shape 1032">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935C477-564D-21D9-3AE7-CA75D4D62BA8}"/>
              </a:ext>
            </a:extLst>
          </p:cNvPr>
          <p:cNvSpPr>
            <a:spLocks noGrp="1"/>
          </p:cNvSpPr>
          <p:nvPr>
            <p:ph type="title"/>
          </p:nvPr>
        </p:nvSpPr>
        <p:spPr>
          <a:xfrm>
            <a:off x="1137034" y="609597"/>
            <a:ext cx="9392421" cy="1330841"/>
          </a:xfrm>
        </p:spPr>
        <p:txBody>
          <a:bodyPr>
            <a:normAutofit/>
          </a:bodyPr>
          <a:lstStyle/>
          <a:p>
            <a:r>
              <a:rPr lang="en-US"/>
              <a:t>Introduction</a:t>
            </a:r>
            <a:endParaRPr lang="en-US" dirty="0"/>
          </a:p>
        </p:txBody>
      </p:sp>
      <p:sp>
        <p:nvSpPr>
          <p:cNvPr id="3" name="Content Placeholder 2">
            <a:extLst>
              <a:ext uri="{FF2B5EF4-FFF2-40B4-BE49-F238E27FC236}">
                <a16:creationId xmlns:a16="http://schemas.microsoft.com/office/drawing/2014/main" id="{5DBB921B-723F-5982-80F5-93F3746EE5CB}"/>
              </a:ext>
            </a:extLst>
          </p:cNvPr>
          <p:cNvSpPr>
            <a:spLocks noGrp="1"/>
          </p:cNvSpPr>
          <p:nvPr>
            <p:ph idx="1"/>
          </p:nvPr>
        </p:nvSpPr>
        <p:spPr>
          <a:xfrm>
            <a:off x="1137034" y="2198362"/>
            <a:ext cx="4958966" cy="3917773"/>
          </a:xfrm>
        </p:spPr>
        <p:txBody>
          <a:bodyPr>
            <a:normAutofit/>
          </a:bodyPr>
          <a:lstStyle/>
          <a:p>
            <a:r>
              <a:rPr lang="en-US" sz="2000" b="0" i="0">
                <a:effectLst/>
                <a:latin typeface="Arial" panose="020B0604020202020204" pitchFamily="34" charset="0"/>
              </a:rPr>
              <a:t>The inverting amplifier circuit is a commonly used circuit in electronics and signal processing applications. It amplifies the input signal while inverting its polarity. This presentation will describe the function of the circuit, its applications, advantages, disadvantages, and variations.</a:t>
            </a:r>
          </a:p>
          <a:p>
            <a:endParaRPr lang="en-US" sz="2000">
              <a:latin typeface="Arial" panose="020B0604020202020204" pitchFamily="34" charset="0"/>
            </a:endParaRPr>
          </a:p>
          <a:p>
            <a:endParaRPr lang="en-US" sz="2000"/>
          </a:p>
        </p:txBody>
      </p:sp>
      <p:pic>
        <p:nvPicPr>
          <p:cNvPr id="1026" name="Picture 2" descr="Inverting Amplifier Circuit Working Along With its Applications">
            <a:extLst>
              <a:ext uri="{FF2B5EF4-FFF2-40B4-BE49-F238E27FC236}">
                <a16:creationId xmlns:a16="http://schemas.microsoft.com/office/drawing/2014/main" id="{0E8D4F19-F725-F089-4444-910EB3441DB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719367" y="2654931"/>
            <a:ext cx="4788505" cy="2815881"/>
          </a:xfrm>
          <a:prstGeom prst="rect">
            <a:avLst/>
          </a:prstGeom>
          <a:noFill/>
          <a:extLst>
            <a:ext uri="{909E8E84-426E-40DD-AFC4-6F175D3DCCD1}">
              <a14:hiddenFill xmlns:a14="http://schemas.microsoft.com/office/drawing/2010/main">
                <a:solidFill>
                  <a:srgbClr val="FFFFFF"/>
                </a:solidFill>
              </a14:hiddenFill>
            </a:ext>
          </a:extLst>
        </p:spPr>
      </p:pic>
      <p:sp>
        <p:nvSpPr>
          <p:cNvPr id="1035" name="Freeform: Shape 1034">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176023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266E8A6-D856-9981-ABC9-8F3B3AC8A4C9}"/>
              </a:ext>
            </a:extLst>
          </p:cNvPr>
          <p:cNvSpPr>
            <a:spLocks noGrp="1"/>
          </p:cNvSpPr>
          <p:nvPr>
            <p:ph type="title"/>
          </p:nvPr>
        </p:nvSpPr>
        <p:spPr>
          <a:xfrm>
            <a:off x="1137034" y="609597"/>
            <a:ext cx="9392421" cy="1330841"/>
          </a:xfrm>
        </p:spPr>
        <p:txBody>
          <a:bodyPr>
            <a:normAutofit/>
          </a:bodyPr>
          <a:lstStyle/>
          <a:p>
            <a:r>
              <a:rPr lang="en-US" dirty="0"/>
              <a:t>Circuit description</a:t>
            </a:r>
          </a:p>
        </p:txBody>
      </p:sp>
      <p:sp>
        <p:nvSpPr>
          <p:cNvPr id="3" name="Content Placeholder 2">
            <a:extLst>
              <a:ext uri="{FF2B5EF4-FFF2-40B4-BE49-F238E27FC236}">
                <a16:creationId xmlns:a16="http://schemas.microsoft.com/office/drawing/2014/main" id="{C3BDCE77-6662-9A10-5304-D06321B74480}"/>
              </a:ext>
            </a:extLst>
          </p:cNvPr>
          <p:cNvSpPr>
            <a:spLocks noGrp="1"/>
          </p:cNvSpPr>
          <p:nvPr>
            <p:ph idx="1"/>
          </p:nvPr>
        </p:nvSpPr>
        <p:spPr>
          <a:xfrm>
            <a:off x="1137034" y="2198362"/>
            <a:ext cx="4958966" cy="3917773"/>
          </a:xfrm>
        </p:spPr>
        <p:txBody>
          <a:bodyPr>
            <a:normAutofit/>
          </a:bodyPr>
          <a:lstStyle/>
          <a:p>
            <a:r>
              <a:rPr lang="en-US" sz="2000" b="0" i="0">
                <a:effectLst/>
                <a:latin typeface="Arial" panose="020B0604020202020204" pitchFamily="34" charset="0"/>
              </a:rPr>
              <a:t>The inverting amplifier circuit consists of two resistors and an operational amplifier (741). The input signal is connected to the inverting input terminal of the operational amplifier. The feedback resistor connects the output to the inverting input. This configuration amplifies the input signal while inverting its polarity. The resistor values determine the gain of the circuit.</a:t>
            </a:r>
            <a:endParaRPr lang="en-US" sz="2000"/>
          </a:p>
        </p:txBody>
      </p:sp>
      <p:pic>
        <p:nvPicPr>
          <p:cNvPr id="5" name="Picture 4" descr="A diagram of a circuit board&#10;&#10;Description automatically generated">
            <a:extLst>
              <a:ext uri="{FF2B5EF4-FFF2-40B4-BE49-F238E27FC236}">
                <a16:creationId xmlns:a16="http://schemas.microsoft.com/office/drawing/2014/main" id="{45D0B82A-1A9A-6FCC-E61C-C07D902AA5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2780" y="2184914"/>
            <a:ext cx="4161679" cy="3755915"/>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67111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8FD07-FB70-8B20-1B6A-6653B9996FC7}"/>
              </a:ext>
            </a:extLst>
          </p:cNvPr>
          <p:cNvSpPr>
            <a:spLocks noGrp="1"/>
          </p:cNvSpPr>
          <p:nvPr>
            <p:ph type="title"/>
          </p:nvPr>
        </p:nvSpPr>
        <p:spPr/>
        <p:txBody>
          <a:bodyPr/>
          <a:lstStyle/>
          <a:p>
            <a:r>
              <a:rPr lang="en-US" dirty="0"/>
              <a:t>Application</a:t>
            </a:r>
          </a:p>
        </p:txBody>
      </p:sp>
      <p:sp>
        <p:nvSpPr>
          <p:cNvPr id="3" name="Content Placeholder 2">
            <a:extLst>
              <a:ext uri="{FF2B5EF4-FFF2-40B4-BE49-F238E27FC236}">
                <a16:creationId xmlns:a16="http://schemas.microsoft.com/office/drawing/2014/main" id="{E0E270EB-3C1A-BD0B-FCA0-A229FDF2FEEB}"/>
              </a:ext>
            </a:extLst>
          </p:cNvPr>
          <p:cNvSpPr>
            <a:spLocks noGrp="1"/>
          </p:cNvSpPr>
          <p:nvPr>
            <p:ph idx="1"/>
          </p:nvPr>
        </p:nvSpPr>
        <p:spPr/>
        <p:txBody>
          <a:bodyPr/>
          <a:lstStyle/>
          <a:p>
            <a:r>
              <a:rPr lang="en-US" b="0" i="0" dirty="0">
                <a:solidFill>
                  <a:srgbClr val="222222"/>
                </a:solidFill>
                <a:effectLst/>
                <a:latin typeface="Arial" panose="020B0604020202020204" pitchFamily="34" charset="0"/>
              </a:rPr>
              <a:t>The inverting amplifier circuit finds applications in various fields. It is commonly used in audio amplifiers, signal conditioning circuits, and instrumentation amplifiers. Its versatility allows it to be used in both analog and digital circuits. The circuit is particularly useful in scenarios where signal inversion is required or where precise amplification and signal conditioning are necessary. m</a:t>
            </a:r>
            <a:endParaRPr lang="en-US" dirty="0"/>
          </a:p>
        </p:txBody>
      </p:sp>
    </p:spTree>
    <p:extLst>
      <p:ext uri="{BB962C8B-B14F-4D97-AF65-F5344CB8AC3E}">
        <p14:creationId xmlns:p14="http://schemas.microsoft.com/office/powerpoint/2010/main" val="93799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71E9B-1871-E7C9-1B52-DF271BFCED36}"/>
              </a:ext>
            </a:extLst>
          </p:cNvPr>
          <p:cNvSpPr>
            <a:spLocks noGrp="1"/>
          </p:cNvSpPr>
          <p:nvPr>
            <p:ph type="title"/>
          </p:nvPr>
        </p:nvSpPr>
        <p:spPr/>
        <p:txBody>
          <a:bodyPr/>
          <a:lstStyle/>
          <a:p>
            <a:r>
              <a:rPr lang="en-US" dirty="0"/>
              <a:t>Advantages</a:t>
            </a:r>
          </a:p>
        </p:txBody>
      </p:sp>
      <p:sp>
        <p:nvSpPr>
          <p:cNvPr id="3" name="Content Placeholder 2">
            <a:extLst>
              <a:ext uri="{FF2B5EF4-FFF2-40B4-BE49-F238E27FC236}">
                <a16:creationId xmlns:a16="http://schemas.microsoft.com/office/drawing/2014/main" id="{339BFD9D-83F0-C1A7-B3EE-6EFCB833FDBF}"/>
              </a:ext>
            </a:extLst>
          </p:cNvPr>
          <p:cNvSpPr>
            <a:spLocks noGrp="1"/>
          </p:cNvSpPr>
          <p:nvPr>
            <p:ph idx="1"/>
          </p:nvPr>
        </p:nvSpPr>
        <p:spPr/>
        <p:txBody>
          <a:bodyPr/>
          <a:lstStyle/>
          <a:p>
            <a:r>
              <a:rPr lang="en-US" b="0" i="0" dirty="0">
                <a:solidFill>
                  <a:srgbClr val="222222"/>
                </a:solidFill>
                <a:effectLst/>
                <a:latin typeface="Arial" panose="020B0604020202020204" pitchFamily="34" charset="0"/>
              </a:rPr>
              <a:t>The inverting amplifier circuit offers several advantages. It has a high input impedance, minimizing the loading effect on the input signal source. The gain of the circuit can be easily adjusted by changing resistor values, providing flexibility in amplification. Additionally, the circuit has a low output impedance, enabling it to drive low impedance loads effectively</a:t>
            </a:r>
            <a:endParaRPr lang="en-US" dirty="0"/>
          </a:p>
        </p:txBody>
      </p:sp>
    </p:spTree>
    <p:extLst>
      <p:ext uri="{BB962C8B-B14F-4D97-AF65-F5344CB8AC3E}">
        <p14:creationId xmlns:p14="http://schemas.microsoft.com/office/powerpoint/2010/main" val="3879238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1A40D-6D1E-16BD-9A78-683ED1C521F1}"/>
              </a:ext>
            </a:extLst>
          </p:cNvPr>
          <p:cNvSpPr>
            <a:spLocks noGrp="1"/>
          </p:cNvSpPr>
          <p:nvPr>
            <p:ph type="title"/>
          </p:nvPr>
        </p:nvSpPr>
        <p:spPr/>
        <p:txBody>
          <a:bodyPr/>
          <a:lstStyle/>
          <a:p>
            <a:r>
              <a:rPr lang="en-US" dirty="0" err="1"/>
              <a:t>Disadvatagess</a:t>
            </a:r>
            <a:endParaRPr lang="en-US" dirty="0"/>
          </a:p>
        </p:txBody>
      </p:sp>
      <p:sp>
        <p:nvSpPr>
          <p:cNvPr id="3" name="Content Placeholder 2">
            <a:extLst>
              <a:ext uri="{FF2B5EF4-FFF2-40B4-BE49-F238E27FC236}">
                <a16:creationId xmlns:a16="http://schemas.microsoft.com/office/drawing/2014/main" id="{6292C441-2458-2563-C877-4C9CCF7B75FB}"/>
              </a:ext>
            </a:extLst>
          </p:cNvPr>
          <p:cNvSpPr>
            <a:spLocks noGrp="1"/>
          </p:cNvSpPr>
          <p:nvPr>
            <p:ph idx="1"/>
          </p:nvPr>
        </p:nvSpPr>
        <p:spPr/>
        <p:txBody>
          <a:bodyPr/>
          <a:lstStyle/>
          <a:p>
            <a:r>
              <a:rPr lang="en-US" b="0" i="0" dirty="0">
                <a:solidFill>
                  <a:srgbClr val="222222"/>
                </a:solidFill>
                <a:effectLst/>
                <a:latin typeface="Arial" panose="020B0604020202020204" pitchFamily="34" charset="0"/>
              </a:rPr>
              <a:t>There are a few disadvantages associated with the inverting amplifier circuit. The most notable drawback is the signal inversion, which may not be desirable in certain applications. Additionally, the output voltage range is limited by the power supply voltages, which can restrict the maximum output swing.</a:t>
            </a:r>
            <a:endParaRPr lang="en-US" dirty="0"/>
          </a:p>
        </p:txBody>
      </p:sp>
    </p:spTree>
    <p:extLst>
      <p:ext uri="{BB962C8B-B14F-4D97-AF65-F5344CB8AC3E}">
        <p14:creationId xmlns:p14="http://schemas.microsoft.com/office/powerpoint/2010/main" val="4229369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B3703-1932-7FB9-3CEE-FF29C6F23663}"/>
              </a:ext>
            </a:extLst>
          </p:cNvPr>
          <p:cNvSpPr>
            <a:spLocks noGrp="1"/>
          </p:cNvSpPr>
          <p:nvPr>
            <p:ph type="title"/>
          </p:nvPr>
        </p:nvSpPr>
        <p:spPr/>
        <p:txBody>
          <a:bodyPr/>
          <a:lstStyle/>
          <a:p>
            <a:r>
              <a:rPr lang="en-US" dirty="0"/>
              <a:t>Circuit Variations</a:t>
            </a:r>
          </a:p>
        </p:txBody>
      </p:sp>
      <p:sp>
        <p:nvSpPr>
          <p:cNvPr id="3" name="Content Placeholder 2">
            <a:extLst>
              <a:ext uri="{FF2B5EF4-FFF2-40B4-BE49-F238E27FC236}">
                <a16:creationId xmlns:a16="http://schemas.microsoft.com/office/drawing/2014/main" id="{12D49FC1-7983-9DBB-1238-7D851D2DE08B}"/>
              </a:ext>
            </a:extLst>
          </p:cNvPr>
          <p:cNvSpPr>
            <a:spLocks noGrp="1"/>
          </p:cNvSpPr>
          <p:nvPr>
            <p:ph idx="1"/>
          </p:nvPr>
        </p:nvSpPr>
        <p:spPr/>
        <p:txBody>
          <a:bodyPr/>
          <a:lstStyle/>
          <a:p>
            <a:r>
              <a:rPr lang="en-US" b="0" i="0" dirty="0">
                <a:solidFill>
                  <a:srgbClr val="222222"/>
                </a:solidFill>
                <a:effectLst/>
                <a:latin typeface="Arial" panose="020B0604020202020204" pitchFamily="34" charset="0"/>
              </a:rPr>
              <a:t>The inverting amplifier circuit can be modified to suit specific requirements. One variation involves adding a capacitor for frequency response shaping, allowing for tailored frequency characteristics. Another option is to introduce a potentiometer to provide adjustable gain, providing flexibility in amplification settings. These variations demonstrate the adaptability of the inverting amplifier circuit to different application needs.</a:t>
            </a:r>
            <a:endParaRPr lang="en-US" dirty="0"/>
          </a:p>
        </p:txBody>
      </p:sp>
    </p:spTree>
    <p:extLst>
      <p:ext uri="{BB962C8B-B14F-4D97-AF65-F5344CB8AC3E}">
        <p14:creationId xmlns:p14="http://schemas.microsoft.com/office/powerpoint/2010/main" val="3042279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5BF86-9153-90C4-DC18-3B4864D2826D}"/>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A2D37A7E-CEDF-4D38-DDA8-D6AAD5A1F3BA}"/>
              </a:ext>
            </a:extLst>
          </p:cNvPr>
          <p:cNvSpPr>
            <a:spLocks noGrp="1"/>
          </p:cNvSpPr>
          <p:nvPr>
            <p:ph idx="1"/>
          </p:nvPr>
        </p:nvSpPr>
        <p:spPr/>
        <p:txBody>
          <a:bodyPr>
            <a:normAutofit lnSpcReduction="10000"/>
          </a:bodyPr>
          <a:lstStyle/>
          <a:p>
            <a:r>
              <a:rPr lang="en-US" b="0" i="0" dirty="0">
                <a:solidFill>
                  <a:srgbClr val="222222"/>
                </a:solidFill>
                <a:effectLst/>
                <a:latin typeface="Arial" panose="020B0604020202020204" pitchFamily="34" charset="0"/>
              </a:rPr>
              <a:t>1. </a:t>
            </a:r>
            <a:r>
              <a:rPr lang="en-US" b="0" i="0" dirty="0" err="1">
                <a:solidFill>
                  <a:srgbClr val="222222"/>
                </a:solidFill>
                <a:effectLst/>
                <a:latin typeface="Arial" panose="020B0604020202020204" pitchFamily="34" charset="0"/>
              </a:rPr>
              <a:t>Sedra</a:t>
            </a:r>
            <a:r>
              <a:rPr lang="en-US" b="0" i="0" dirty="0">
                <a:solidFill>
                  <a:srgbClr val="222222"/>
                </a:solidFill>
                <a:effectLst/>
                <a:latin typeface="Arial" panose="020B0604020202020204" pitchFamily="34" charset="0"/>
              </a:rPr>
              <a:t>, A. S., &amp; Smith, K. C. (2004). Microelectronic circuits (5th ed.). Oxford University Press.</a:t>
            </a:r>
          </a:p>
          <a:p>
            <a:r>
              <a:rPr lang="en-US" b="0" i="0" dirty="0">
                <a:solidFill>
                  <a:srgbClr val="222222"/>
                </a:solidFill>
                <a:effectLst/>
                <a:latin typeface="Arial" panose="020B0604020202020204" pitchFamily="34" charset="0"/>
              </a:rPr>
              <a:t> 2. Horowitz, P., &amp; Hill, W. (2015). The art of electronics (3rd ed.). Cambridge University Press.</a:t>
            </a:r>
          </a:p>
          <a:p>
            <a:r>
              <a:rPr lang="en-US" b="0" i="0" dirty="0">
                <a:solidFill>
                  <a:srgbClr val="222222"/>
                </a:solidFill>
                <a:effectLst/>
                <a:latin typeface="Arial" panose="020B0604020202020204" pitchFamily="34" charset="0"/>
              </a:rPr>
              <a:t> 3. Op Amp Applications Handbook. (2005). Texas Instruments. </a:t>
            </a:r>
          </a:p>
          <a:p>
            <a:r>
              <a:rPr lang="en-US" b="0" i="0" dirty="0">
                <a:solidFill>
                  <a:srgbClr val="222222"/>
                </a:solidFill>
                <a:effectLst/>
                <a:latin typeface="Arial" panose="020B0604020202020204" pitchFamily="34" charset="0"/>
              </a:rPr>
              <a:t>4. Gray, P. R., Hurst, P. J., Lewis, S. H., &amp; Meyer, R. G. (2001). Analysis and design of analog integrated circuits (5th ed.). Wiley. </a:t>
            </a:r>
          </a:p>
          <a:p>
            <a:r>
              <a:rPr lang="en-US" b="0" i="0" dirty="0">
                <a:solidFill>
                  <a:srgbClr val="222222"/>
                </a:solidFill>
                <a:effectLst/>
                <a:latin typeface="Arial" panose="020B0604020202020204" pitchFamily="34" charset="0"/>
              </a:rPr>
              <a:t>5. Floyd, T. L., &amp; Buchla, D. M. (2020). Electronics fundamentals: A systems approach (9th ed.). Pearson.</a:t>
            </a:r>
            <a:endParaRPr lang="en-US" dirty="0"/>
          </a:p>
        </p:txBody>
      </p:sp>
    </p:spTree>
    <p:extLst>
      <p:ext uri="{BB962C8B-B14F-4D97-AF65-F5344CB8AC3E}">
        <p14:creationId xmlns:p14="http://schemas.microsoft.com/office/powerpoint/2010/main" val="42489873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502</Words>
  <Application>Microsoft Office PowerPoint</Application>
  <PresentationFormat>Widescreen</PresentationFormat>
  <Paragraphs>20</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Inverting amplifier</vt:lpstr>
      <vt:lpstr>Introduction</vt:lpstr>
      <vt:lpstr>Circuit description</vt:lpstr>
      <vt:lpstr>Application</vt:lpstr>
      <vt:lpstr>Advantages</vt:lpstr>
      <vt:lpstr>Disadvatagess</vt:lpstr>
      <vt:lpstr>Circuit Variations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Inverting amplifier</dc:title>
  <dc:creator>isaiahmarin9640@gmail.com</dc:creator>
  <cp:lastModifiedBy>isaiahmarin9640@gmail.com</cp:lastModifiedBy>
  <cp:revision>1</cp:revision>
  <dcterms:created xsi:type="dcterms:W3CDTF">2023-08-17T16:51:00Z</dcterms:created>
  <dcterms:modified xsi:type="dcterms:W3CDTF">2023-08-17T17:10:43Z</dcterms:modified>
</cp:coreProperties>
</file>